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Credit risk: Lending Club accepted loans, 2007–2018</a:t>
            </a:r>
          </a:p>
          <a:p>
            <a:pPr>
              <a:defRPr sz="2000"/>
            </a:pPr>
            <a:r>
              <a:t>Fraud risk: PaySim synthetic mobile money transactions</a:t>
            </a:r>
          </a:p>
          <a:p>
            <a:pPr>
              <a:defRPr sz="2000"/>
            </a:pPr>
            <a:r>
              <a:t>SQLite warehouse, SQL analytics, Tableau extracts, Excel and this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Loans loaded 2,260,701; clean 2,260,666; quarantined 35</a:t>
            </a:r>
          </a:p>
          <a:p>
            <a:pPr>
              <a:defRPr sz="2000"/>
            </a:pPr>
            <a:r>
              <a:t>PaySim loaded 6,362,620; clean 6,362,620; quarantined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Loans loaded 2,260,701; resolved 1,346,109</a:t>
            </a:r>
          </a:p>
          <a:p>
            <a:pPr>
              <a:defRPr sz="2000"/>
            </a:pPr>
            <a:r>
              <a:t>Resolved default rate 20.01%</a:t>
            </a:r>
          </a:p>
          <a:p>
            <a:pPr>
              <a:defRPr sz="2000"/>
            </a:pPr>
            <a:r>
              <a:t>Issue-quarter vintage points 47</a:t>
            </a:r>
          </a:p>
          <a:p>
            <a:pPr>
              <a:defRPr sz="2000"/>
            </a:pPr>
            <a:r>
              <a:t>Worst deterioration: purpose=major_purchase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Root-cause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Worst segment: purpose=major_purchase</a:t>
            </a:r>
          </a:p>
          <a:p>
            <a:pPr>
              <a:defRPr sz="2000"/>
            </a:pPr>
            <a:r>
              <a:t>Top marginal shift-share driver: term within-segment rate effect (+7.922 pp)</a:t>
            </a:r>
          </a:p>
          <a:p>
            <a:pPr>
              <a:defRPr sz="2000"/>
            </a:pPr>
            <a:r>
              <a:t>Marginal shift-share dimensions overlap; association is not causation.</a:t>
            </a:r>
          </a:p>
          <a:p>
            <a:pPr>
              <a:defRPr sz="2000"/>
            </a:pPr>
            <a:r>
              <a:t>See RCA.md for windows, rates and caveats.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Fraud rules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PaySim transactions 6,362,620; supported rules 2</a:t>
            </a:r>
          </a:p>
          <a:p>
            <a:pPr>
              <a:defRPr sz="2000"/>
            </a:pPr>
            <a:r>
              <a:t>Combined precision 73.673%; recall 99.876%</a:t>
            </a:r>
          </a:p>
          <a:p>
            <a:pPr>
              <a:defRPr sz="2000"/>
            </a:pPr>
            <a:r>
              <a:t>Alerts/day 354.38</a:t>
            </a:r>
          </a:p>
          <a:p>
            <a:pPr>
              <a:defRPr sz="2000"/>
            </a:pPr>
            <a:r>
              <a:t>Held-out final 30% of ordered steps; thresholds selected on first 70%.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 Lending Club data; not Navi portfolio or policy context.</a:t>
            </a:r>
          </a:p>
          <a:p>
            <a:pPr>
              <a:defRPr sz="2000"/>
            </a:pPr>
            <a:r>
              <a:t>Default rate uses resolved loans only; current loans censored/excluded.</a:t>
            </a:r>
          </a:p>
          <a:p>
            <a:pPr>
              <a:defRPr sz="2000"/>
            </a:pPr>
            <a:r>
              <a:t>Issue-quarter vintage rates only; no comparable months-on-book curves.</a:t>
            </a:r>
          </a:p>
          <a:p>
            <a:pPr>
              <a:defRPr sz="2000"/>
            </a:pPr>
            <a:r>
              <a:t>PaySim is synthetic; no production performance or regulator conclusions.</a:t>
            </a:r>
          </a:p>
          <a:p>
            <a:pPr>
              <a:defRPr sz="2000"/>
            </a:pPr>
            <a:r>
              <a:t>No real policy, underwriting, investigation or regulator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